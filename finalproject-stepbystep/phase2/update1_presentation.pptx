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114800"/>
            <a:ext cx="2743200" cy="2743200"/>
          </a:xfrm>
          <a:prstGeom prst="ellipse">
            <a:avLst/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0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731520"/>
            <a:ext cx="1371600" cy="1371600"/>
          </a:xfrm>
          <a:prstGeom prst="ellipse">
            <a:avLst/>
          </a:prstGeom>
          <a:solidFill>
            <a:srgbClr val="0D3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1F5F9"/>
                </a:solidFill>
                <a:latin typeface="Calibri"/>
              </a:defRPr>
            </a:pPr>
            <a:r>
              <a:t>Predictive Code-Switching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DD4B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291840"/>
            <a:ext cx="182880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Universality-Focused Multitask Learning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7A6E"/>
                </a:solidFill>
                <a:latin typeface="Calibri"/>
              </a:defRPr>
            </a:pPr>
            <a:r>
              <a:t>Project Update 1: Streaming Data &amp; Causal Baselines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846320"/>
            <a:ext cx="1645920" cy="5486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D4BF"/>
                </a:solidFill>
                <a:latin typeface="Calibri"/>
              </a:defRPr>
            </a:pPr>
            <a:r>
              <a:t>Jae Hun Cho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4846320"/>
            <a:ext cx="1645920" cy="5486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D4BF"/>
                </a:solidFill>
                <a:latin typeface="Calibri"/>
              </a:defRPr>
            </a:pPr>
            <a:r>
              <a:t>Fengying Zeng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846320"/>
            <a:ext cx="1645920" cy="5486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D4BF"/>
                </a:solidFill>
                <a:latin typeface="Calibri"/>
              </a:defRPr>
            </a:pPr>
            <a:r>
              <a:t>Xiaoyan Cai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Northeastern University, Seattle  ·  February 25,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0"/>
            <a:ext cx="3200400" cy="3200400"/>
          </a:xfrm>
          <a:prstGeom prst="ellipse">
            <a:avLst/>
          </a:prstGeom>
          <a:solidFill>
            <a:srgbClr val="0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7772400" cy="5943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F3D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D4B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533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Language Pair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00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6 pairs across 2 diversity axes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4475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A7A6E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93391"/>
            <a:ext cx="7772400" cy="5943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084831"/>
            <a:ext cx="411480" cy="411480"/>
          </a:xfrm>
          <a:prstGeom prst="ellipse">
            <a:avLst/>
          </a:prstGeom>
          <a:solidFill>
            <a:srgbClr val="0F3D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D4B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06654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Data 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3134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49,833 samples — statistics &amp; distributions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579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A7A6E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06624"/>
            <a:ext cx="7772400" cy="5943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2798064"/>
            <a:ext cx="411480" cy="411480"/>
          </a:xfrm>
          <a:prstGeom prst="ellipse">
            <a:avLst/>
          </a:prstGeom>
          <a:solidFill>
            <a:srgbClr val="0F3D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D4B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7797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Streaming DataLoader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0266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On-the-fly pipeline from HuggingFace to batches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8712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A7A6E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19856"/>
            <a:ext cx="7772400" cy="5943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511296"/>
            <a:ext cx="411480" cy="411480"/>
          </a:xfrm>
          <a:prstGeom prst="ellipse">
            <a:avLst/>
          </a:prstGeom>
          <a:solidFill>
            <a:srgbClr val="0F3D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95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D4B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4930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Shifted Label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7398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y_sw (switch) and y_dur (duration) creation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5844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A7A6E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133087"/>
            <a:ext cx="7772400" cy="5943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224527"/>
            <a:ext cx="411480" cy="411480"/>
          </a:xfrm>
          <a:prstGeom prst="ellipse">
            <a:avLst/>
          </a:prstGeom>
          <a:solidFill>
            <a:srgbClr val="0F3D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4281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D4B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206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Causal Attention Mask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453127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Prefix-only context enforcement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29767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A7A6E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46320"/>
            <a:ext cx="7772400" cy="5943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" y="4937760"/>
            <a:ext cx="411480" cy="411480"/>
          </a:xfrm>
          <a:prstGeom prst="ellipse">
            <a:avLst/>
          </a:prstGeom>
          <a:solidFill>
            <a:srgbClr val="0F3D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56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D4B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49194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Baseline 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166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Naive baseline F1 &amp; universality 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0109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A7A6E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559552"/>
            <a:ext cx="7772400" cy="5943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" y="5650992"/>
            <a:ext cx="411480" cy="411480"/>
          </a:xfrm>
          <a:prstGeom prst="ellipse">
            <a:avLst/>
          </a:prstGeom>
          <a:solidFill>
            <a:srgbClr val="0F3D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669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D4B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4440" y="56327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Challenges &amp; Next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8795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Sub-word issues and Phase 2 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7241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A7A6E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0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Language Pair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6 pairs across 2 diversity axes to rigorously test universality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4023360" cy="301752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463040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Axis 1: Script Difference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Can the model work without character-level cues?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Calibri"/>
              </a:defRPr>
            </a:pPr>
            <a:r>
              <a:t>✦ Different Script — Easy 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Hindi-English  (Devanagari ↔ Latin)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Arabic-English  (Arabic ↔ Latin)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✦ Same Script — Hard 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Spanish-English  (Latin ↔ Latin)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216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French-English  (Latin ↔ Latin)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371600"/>
            <a:ext cx="4023360" cy="301752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37760" y="146304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Axis 2: Typological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828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Can the model generalize across different grammars?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Calibri"/>
              </a:defRPr>
            </a:pPr>
            <a:r>
              <a:t>✦ Close (SVO) — Similar word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5146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Spanish-EN, French-EN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715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Both Subject-Verb-Object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320040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246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✦ Distant (SOV / Topic-prominent)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52044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Korean-English  (SOV ↔ SVO)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7216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Chinese-English  (Topic-prominent)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663440"/>
            <a:ext cx="8412480" cy="64008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 b="1" sz="1000">
                <a:solidFill>
                  <a:srgbClr val="FACC15"/>
                </a:solidFill>
              </a:rPr>
              <a:t>💡 Key insight: </a:t>
            </a:r>
            <a:r>
              <a:rPr sz="900">
                <a:solidFill>
                  <a:srgbClr val="94A3B8"/>
                </a:solidFill>
              </a:rPr>
              <a:t>All 6 pairs have ~8K samples with similar quality scores (~8.5/10), eliminating data quantity as a confound. Any performance gap = genuine linguistic difficulty.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Data Exploration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SwitchLingua — 49,833 samples across our 6 selected pairs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Language Pair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Avg Score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Avg Words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Scripts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7E8F9"/>
                          </a:solidFill>
                          <a:latin typeface="Calibri"/>
                        </a:defRPr>
                      </a:pPr>
                      <a:r>
                        <a:t>Hindi-English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8,381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8.49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56.8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Devanagari ↔ Latin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7E8F9"/>
                          </a:solidFill>
                          <a:latin typeface="Calibri"/>
                        </a:defRPr>
                      </a:pPr>
                      <a:r>
                        <a:t>Arabic-English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8,548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8.44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45.9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Arabic ↔ Latin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Spanish-English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8,110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16.3%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8.54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54.9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Latin ↔ Latin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French-English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8,070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16.2%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8.47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53.3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Latin ↔ Latin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78BFA"/>
                          </a:solidFill>
                          <a:latin typeface="Calibri"/>
                        </a:defRPr>
                      </a:pPr>
                      <a:r>
                        <a:t>Korean-English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8,266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8.55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44.8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Hangul ↔ Latin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78BFA"/>
                          </a:solidFill>
                          <a:latin typeface="Calibri"/>
                        </a:defRPr>
                      </a:pPr>
                      <a:r>
                        <a:t>Chinese-English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8,458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17.0%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8.49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27.5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CJK ↔ Latin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49,833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~8.5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3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F3D3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41148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D4BF"/>
                </a:solidFill>
                <a:latin typeface="Calibri"/>
              </a:defRPr>
            </a:pPr>
            <a:r>
              <a:t>1.1x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262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Balance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09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D4BF"/>
                </a:solidFill>
                <a:latin typeface="Calibri"/>
              </a:defRPr>
            </a:pPr>
            <a:r>
              <a:t>Well balanced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41148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4160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7E8F9"/>
                </a:solidFill>
                <a:latin typeface="Calibri"/>
              </a:defRPr>
            </a:pPr>
            <a:r>
              <a:t>~⅓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5262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CS Type Dist.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4709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7E8F9"/>
                </a:solidFill>
                <a:latin typeface="Calibri"/>
              </a:defRPr>
            </a:pPr>
            <a:r>
              <a:t>Intra / Inter / Tag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1148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160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CC15"/>
                </a:solidFill>
                <a:latin typeface="Calibri"/>
              </a:defRPr>
            </a:pPr>
            <a:r>
              <a:t>19.1%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5262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Switch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709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ACC15"/>
                </a:solidFill>
                <a:latin typeface="Calibri"/>
              </a:defRPr>
            </a:pPr>
            <a:r>
              <a:t>Class imbalance 1:4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41148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160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27.5w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5262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Chinese-EN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709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B923C"/>
                </a:solidFill>
                <a:latin typeface="Calibri"/>
              </a:defRPr>
            </a:pPr>
            <a:r>
              <a:t>Notably shorter 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Streaming DataLoader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On-the-fly processing — never loads full 420K samples into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HuggingFace</a:t>
            </a:r>
            <a:br/>
            <a:r>
              <a:t>CSV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A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Filter Pair</a:t>
            </a:r>
            <a:br/>
            <a:r>
              <a:t>&amp;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463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A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Calibri"/>
              </a:defRPr>
            </a:pPr>
            <a:r>
              <a:t>🏷️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Token-Level</a:t>
            </a:r>
            <a:br/>
            <a:r>
              <a:t>Language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2776" y="1463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A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Shifted</a:t>
            </a:r>
            <a:br/>
            <a:r>
              <a:t>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1463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A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Calibri"/>
              </a:defRPr>
            </a:pPr>
            <a:r>
              <a:t>✂️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Subword</a:t>
            </a:r>
            <a:br/>
            <a: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1463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A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Batch</a:t>
            </a:r>
            <a:br/>
            <a:r>
              <a:t>Yield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651760"/>
            <a:ext cx="4023360" cy="23774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Why Streaming?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218688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154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Memory efficient — processes one sample at a time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3566160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35021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Per-file loading via data_files= parameter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3913632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8496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Round-robin interleaving for mixed batches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4261104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1970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Simulates real-time keyboard input scenario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2651760"/>
            <a:ext cx="4023360" cy="23774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Key Implementation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3108960"/>
            <a:ext cx="3657600" cy="173736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154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# Load specific pair file</a:t>
            </a:r>
            <a:br/>
            <a:r>
              <a:t>ds = load_dataset(</a:t>
            </a:r>
            <a:br/>
            <a:r>
              <a:t>    "SwitchLingua_text",</a:t>
            </a:r>
            <a:br/>
            <a:r>
              <a:t>    data_files="Hindi_eng.csv",</a:t>
            </a:r>
            <a:br/>
            <a:r>
              <a:t>    streaming=True</a:t>
            </a:r>
            <a:br/>
            <a:r>
              <a:t>)</a:t>
            </a:r>
            <a:br/>
            <a:br/>
            <a:r>
              <a:t># PyTorch IterableDataset</a:t>
            </a:r>
            <a:br/>
            <a:r>
              <a:t>class StreamingCSDataset(</a:t>
            </a:r>
            <a:br/>
            <a:r>
              <a:t>    IterableDataset):</a:t>
            </a:r>
            <a:br/>
            <a:r>
              <a:t>  def __iter__(self):</a:t>
            </a:r>
            <a:br/>
            <a:r>
              <a:t>    yield sample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212080"/>
            <a:ext cx="8412480" cy="41148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257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Calibri"/>
              </a:defRPr>
            </a:pPr>
            <a:r>
              <a:rPr b="1" sz="900">
                <a:solidFill>
                  <a:srgbClr val="2DD4BF"/>
                </a:solidFill>
              </a:rPr>
              <a:t>Output: </a:t>
            </a:r>
            <a:r>
              <a:rPr sz="800">
                <a:solidFill>
                  <a:srgbClr val="67E8F9"/>
                </a:solidFill>
                <a:latin typeface="Consolas"/>
              </a:rPr>
              <a:t>input_ids (B,256) · attention_mask (B,256) · switch_labels (B,256) · duration_labels (B,256)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Shifted Label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At position t, predict what happens at position t+1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8412480" cy="21945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Example: Hindi-English sentence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383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Token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went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बाज़ार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में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groceries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Lang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7E8F9"/>
                          </a:solidFill>
                          <a:latin typeface="Consolas"/>
                        </a:defRPr>
                      </a:pPr>
                      <a:r>
                        <a:t>EN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7E8F9"/>
                          </a:solidFill>
                          <a:latin typeface="Consolas"/>
                        </a:defRPr>
                      </a:pPr>
                      <a:r>
                        <a:t>EN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7E8F9"/>
                          </a:solidFill>
                          <a:latin typeface="Consolas"/>
                        </a:defRPr>
                      </a:pPr>
                      <a:r>
                        <a:t>EN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B923C"/>
                          </a:solidFill>
                          <a:latin typeface="Consolas"/>
                        </a:defRPr>
                      </a:pPr>
                      <a:r>
                        <a:t>HI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B923C"/>
                          </a:solidFill>
                          <a:latin typeface="Consolas"/>
                        </a:defRPr>
                      </a:pPr>
                      <a:r>
                        <a:t>HI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7E8F9"/>
                          </a:solidFill>
                          <a:latin typeface="Consolas"/>
                        </a:defRPr>
                      </a:pPr>
                      <a:r>
                        <a:t>EN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7E8F9"/>
                          </a:solidFill>
                          <a:latin typeface="Consolas"/>
                        </a:defRPr>
                      </a:pPr>
                      <a:r>
                        <a:t>EN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7E8F9"/>
                          </a:solidFill>
                          <a:latin typeface="Consolas"/>
                        </a:defRPr>
                      </a:pPr>
                      <a:r>
                        <a:t>EN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DD4BF"/>
                          </a:solidFill>
                          <a:latin typeface="Consolas"/>
                        </a:defRPr>
                      </a:pPr>
                      <a:r>
                        <a:t>y_sw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D4BF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D4BF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7171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D4BF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7171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D4BF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D4BF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92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A78BFA"/>
                          </a:solidFill>
                          <a:latin typeface="Consolas"/>
                        </a:defRPr>
                      </a:pPr>
                      <a:r>
                        <a:t>y_dur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A78BFA"/>
                          </a:solidFill>
                          <a:latin typeface="Consolas"/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A78BFA"/>
                          </a:solidFill>
                          <a:latin typeface="Consolas"/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361188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Task 1: Switch Prediction (y_sw)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133088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069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Binary: will token t+1 switch language?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25696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616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0 = no switch,  1 = switch coming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18304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542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Last token → -100 (masked in loss)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010912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9469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~81% no-switch → need weighted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61188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703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Task 2: Duration Prediction (y_dur)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0" y="4133087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069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3-class: how long will the switch last?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0" y="442569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3616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Small(1-2) · Medium(3-6) · Large(7+)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0" y="4718303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46542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Only defined where y_sw = 1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0" y="501091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49469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Non-switch positions → -100 (masked)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Causal Attention Mask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Enforcing prefix-only context — token t can only see tokens 0…t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4023360" cy="26517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❌  Standard Bidirectional (BERT)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Every token sees every other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D4BF"/>
                </a:solidFill>
                <a:latin typeface="Consolas"/>
              </a:defRPr>
            </a:pPr>
            <a:r>
              <a:t>  1   1   1   1   1</a:t>
            </a:r>
            <a:br/>
            <a:r>
              <a:t>  1   1   1   1   1</a:t>
            </a:r>
            <a:br/>
            <a:r>
              <a:t>  1   1   1   1   1</a:t>
            </a:r>
            <a:br/>
            <a:r>
              <a:t>  1   1   1   1   1</a:t>
            </a:r>
            <a:br/>
            <a:r>
              <a:t>  1   1   1   1   1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Calibri"/>
              </a:defRPr>
            </a:pPr>
            <a:r>
              <a:t>⚠ Token 2 can see token 3 → INFO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4023360" cy="265176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✅  Causal Mask (Our Approach)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783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Token t only sees tokens 0…t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10312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1488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D4BF"/>
                </a:solidFill>
                <a:latin typeface="Consolas"/>
              </a:defRPr>
            </a:pPr>
            <a:r>
              <a:t>  1   0   0   0   0</a:t>
            </a:r>
            <a:br/>
            <a:r>
              <a:t>  1   1   0   0   0</a:t>
            </a:r>
            <a:br/>
            <a:r>
              <a:t>  1   1   1   0   0</a:t>
            </a:r>
            <a:br/>
            <a:r>
              <a:t>  1   1   1   1   0</a:t>
            </a:r>
            <a:br/>
            <a:r>
              <a:t>  1   1   1   1   1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66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D4BF"/>
                </a:solidFill>
                <a:latin typeface="Calibri"/>
              </a:defRPr>
            </a:pPr>
            <a:r>
              <a:t>✓ No future information leakage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297680"/>
            <a:ext cx="8412480" cy="137160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Implementation (3 lines)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60"/>
            <a:ext cx="8046720" cy="82296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36592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# 1. Lower-triangular mask</a:t>
            </a:r>
            <a:br/>
            <a:r>
              <a:t>causal = torch.tril(torch.ones(seq_len, seq_len))</a:t>
            </a:r>
            <a:br/>
            <a:br/>
            <a:r>
              <a:t># 2. Combine with padding mask</a:t>
            </a:r>
            <a:br/>
            <a:r>
              <a:t>combined = causal * attention_mask</a:t>
            </a:r>
            <a:br/>
            <a:br/>
            <a:r>
              <a:t># 3. Convert: 0→attend, -10000→block</a:t>
            </a:r>
            <a:br/>
            <a:r>
              <a:t>extended = (1.0 - combined) * -10000.0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Naive Baseline &amp; Anticipatory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Actual results from our pipeline — the floor our model must beat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4023360" cy="301752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Naive: 'Always Predict No Switch'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Predicts class 0 for every single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Macro F1: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ACC15"/>
                </a:solidFill>
                <a:latin typeface="Calibri"/>
              </a:defRPr>
            </a:pPr>
            <a:r>
              <a:t>0.4473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F1 (switch=1):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591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Calibri"/>
              </a:defRPr>
            </a:pPr>
            <a:r>
              <a:t>0.0000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946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F1 (no_switch=0):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6946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Calibri"/>
              </a:defRPr>
            </a:pPr>
            <a:r>
              <a:t>0.8947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900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Switch rate: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9008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19.1%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Class imbalance: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00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1:4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10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Duration: Small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1071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51.0%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2102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Duration: 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6210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25.3%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3133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Duration: Large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83133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23.7%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alibri"/>
              </a:defRPr>
            </a:pPr>
            <a:r>
              <a:t>→ F1(switch)=0 proves baseline is blind to switches!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371600"/>
            <a:ext cx="4023360" cy="301752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Per-Pair F1 &amp; Universality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18288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E8F9"/>
                </a:solidFill>
                <a:latin typeface="Calibri"/>
              </a:defRPr>
            </a:pPr>
            <a:r>
              <a:t>Hindi-EN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947672"/>
            <a:ext cx="1397788" cy="164592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920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Calibri"/>
              </a:defRPr>
            </a:pPr>
            <a:r>
              <a:t>0.4777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E8F9"/>
                </a:solidFill>
                <a:latin typeface="Calibri"/>
              </a:defRPr>
            </a:pPr>
            <a:r>
              <a:t>Arabic-EN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2221991"/>
            <a:ext cx="1365016" cy="164592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194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Calibri"/>
              </a:defRPr>
            </a:pPr>
            <a:r>
              <a:t>0.4665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468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923C"/>
                </a:solidFill>
                <a:latin typeface="Calibri"/>
              </a:defRPr>
            </a:pPr>
            <a:r>
              <a:t>Spanish-EN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2496312"/>
            <a:ext cx="1213445" cy="164592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2468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Calibri"/>
              </a:defRPr>
            </a:pPr>
            <a:r>
              <a:t>0.4147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743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923C"/>
                </a:solidFill>
                <a:latin typeface="Calibri"/>
              </a:defRPr>
            </a:pPr>
            <a:r>
              <a:t>French-EN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2770632"/>
            <a:ext cx="1217834" cy="164592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Calibri"/>
              </a:defRPr>
            </a:pPr>
            <a:r>
              <a:t>0.4162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8BFA"/>
                </a:solidFill>
                <a:latin typeface="Calibri"/>
              </a:defRPr>
            </a:pPr>
            <a:r>
              <a:t>Korean-EN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3044951"/>
            <a:ext cx="1349508" cy="164592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017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Calibri"/>
              </a:defRPr>
            </a:pPr>
            <a:r>
              <a:t>0.4612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291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8BFA"/>
                </a:solidFill>
                <a:latin typeface="Calibri"/>
              </a:defRPr>
            </a:pPr>
            <a:r>
              <a:t>Chinese-EN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3319272"/>
            <a:ext cx="1302983" cy="164592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Calibri"/>
              </a:defRPr>
            </a:pPr>
            <a:r>
              <a:t>0.4453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3611880"/>
            <a:ext cx="3383280" cy="9144"/>
          </a:xfrm>
          <a:prstGeom prst="rect">
            <a:avLst/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3657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σ (universality):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3657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0.0242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663440"/>
            <a:ext cx="8412480" cy="5486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0F3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7548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Calibri"/>
              </a:defRPr>
            </a:pPr>
            <a:r>
              <a:rPr b="1" sz="1000">
                <a:solidFill>
                  <a:srgbClr val="2DD4BF"/>
                </a:solidFill>
              </a:rPr>
              <a:t>🎯 Goal: </a:t>
            </a:r>
            <a:r>
              <a:rPr sz="900">
                <a:solidFill>
                  <a:srgbClr val="94A3B8"/>
                </a:solidFill>
              </a:rPr>
              <a:t>Trained model must beat 0.4473 macro F1 while maintaining low σ across all 6 language pairs.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4572000"/>
            <a:ext cx="2743200" cy="2743200"/>
          </a:xfrm>
          <a:prstGeom prst="ellipse">
            <a:avLst/>
          </a:prstGeom>
          <a:solidFill>
            <a:srgbClr val="0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Challenges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Sub-word tokenization issues and the Phase 2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⚠  Current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Subword Misalignment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"supermercado" → ["▁super","merc","ado"]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Calibri"/>
              </a:defRPr>
            </a:pPr>
            <a:r>
              <a:t>→ Predict only on first subword, mask 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9191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1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Same-Script 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352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"hospital" exists in both EN and 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36391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Calibri"/>
              </a:defRPr>
            </a:pPr>
            <a:r>
              <a:t>→ Using langid classifier for Latin↔Latin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75304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210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Chinese-EN Shorter Texts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3133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27.5 avg words vs 45-57 for other pairs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3250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Calibri"/>
              </a:defRPr>
            </a:pPr>
            <a:r>
              <a:t>→ Monitor impact on prediction quality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71416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1713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Class Imbalance (1:4)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274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81% of tokens are 'no-switch'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2861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Calibri"/>
              </a:defRPr>
            </a:pPr>
            <a:r>
              <a:t>→ Weighted CrossEntropy or focal loss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28016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🚀  Next Steps (Weeks 5-7)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178308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0" y="1856231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84708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DD4B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828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Build Dual-Head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13055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XLM-RoBERTa encoder + causal mask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34086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Head 1: switch prediction (binary)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255117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Head 2: duration prediction (3-class)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301752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0" y="3090672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08152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DD4BF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06323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Training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364991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Combined loss: λ₁·L_sw + λ₂·L_dur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575303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Mixed precision (fp16)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785615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Early stopping on validation F1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0" y="425196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15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0" y="4325112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0F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3159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DD4BF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4297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Architecture Comparison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5994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Train both XLM-RoBERTa and mBERT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8097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Compare per-pair F1 scores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02005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•  Compute universality σ for each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Predictive Code-Switching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